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57E19DD-E35B-4974-8B4B-7B80B0CE2F0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Короткая версия презентации: семь слайдов, только главное и реальные кадры из игры.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8445AB-68DB-4BE0-94AA-DF49945586E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Pong Wall — знакомый пинг-понг, в котором стена становится полем боя. Одна ракетка, пять рун и бесконечный забег за рекордом.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0FF5A7-3B9C-47B1-962C-9FBB3F8A1D7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Всё управление — один жест: зажать и вести. Возврат мяча даёт очко, попадание в руну — бонус. В обучении промах не наказывает.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5E00E7-DA70-4208-8684-EE30EB77544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Пять рун: Arcane, Treasure, Life, Ball и Overdrive. Arcane даёт очки и заряд, Treasure — очки, Life — запасную жизнь, Ball — новый мяч, Overdrive — мгновенный surge.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FA9CD2-C12D-4494-99DA-C773D6F38D9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Пять Arcane-зарядов включают surge: +15 очков сразу и множитель ×2 на 8 секунд. Пауза замораживает таймер усиления.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8FDE1C-EAA2-4272-8FC3-75E269DA237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 игре может быть до шести мячей и до двух запасных жизней. Потеря одного мяча не завершает забег; Game over наступает, когда потеряно всё.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8969CC-E6BE-424F-B2EC-858C5A596F7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Итог: понятная механика, риск на каждом ударе и бесконечная охота за рекордом. Спасибо за внимание.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FDA1FA-EF90-4BA5-8242-0F497CAEBA9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944DD0-93DD-4974-AFF3-BBE7CD5058C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D46497-93DE-478B-B4C1-466E397DE4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591E59-FD66-4B2D-A925-8683ED51D72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F26F81-9D5C-46F8-BD41-C4241B779EC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8BEFD9-6D79-47F0-ACCB-B838C02965C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E566F4-6503-439F-955A-F409DDE8708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18436F-3939-42FC-93EF-0CC04255539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A40C53-A556-44CB-8227-63C480CDEA7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E8EDEA-4E2F-4BDB-ABBE-B285E5BE7F9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791FB0-22C6-411A-95D4-07B3244035B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E9E961-A230-45ED-87A6-290017F0DB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" descr="bg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Picture 2" descr="key_art_16x9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Box 3"/>
          <p:cNvSpPr/>
          <p:nvPr/>
        </p:nvSpPr>
        <p:spPr>
          <a:xfrm>
            <a:off x="731520" y="640080"/>
            <a:ext cx="4571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860" spc="170" strike="noStrike" u="none">
                <a:solidFill>
                  <a:srgbClr val="d8b26a"/>
                </a:solidFill>
                <a:effectLst/>
                <a:uFillTx/>
                <a:latin typeface="Consolas"/>
                <a:ea typeface="Consolas"/>
              </a:rPr>
              <a:t>PONG WALL · ПРЕЗЕНТАЦИЯ ИГРЫ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685800" y="117036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82000"/>
              </a:lnSpc>
            </a:pPr>
            <a:r>
              <a:rPr b="1" lang="ru-RU" sz="86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PONG</a:t>
            </a:r>
            <a:endParaRPr b="0" lang="en-US" sz="8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685800" y="212148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82000"/>
              </a:lnSpc>
            </a:pPr>
            <a:r>
              <a:rPr b="1" lang="ru-RU" sz="8600" strike="noStrike" u="none">
                <a:solidFill>
                  <a:srgbClr val="b7472a"/>
                </a:solidFill>
                <a:effectLst/>
                <a:uFillTx/>
                <a:latin typeface="Bahnschrift"/>
                <a:ea typeface="Bahnschrift"/>
              </a:rPr>
              <a:t>WALL</a:t>
            </a:r>
            <a:endParaRPr b="0" lang="en-US" sz="8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731520" y="3547800"/>
            <a:ext cx="4480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200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Пинг-понг с рунами и магией.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7"/>
          <p:cNvSpPr/>
          <p:nvPr/>
        </p:nvSpPr>
        <p:spPr>
          <a:xfrm>
            <a:off x="731520" y="5623560"/>
            <a:ext cx="1096920" cy="31680"/>
          </a:xfrm>
          <a:prstGeom prst="rect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731520" y="581544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250" strike="noStrike" u="none">
                <a:solidFill>
                  <a:srgbClr val="f2f4f5"/>
                </a:solidFill>
                <a:effectLst/>
                <a:uFillTx/>
                <a:latin typeface="Segoe UI"/>
                <a:ea typeface="Segoe UI"/>
              </a:rPr>
              <a:t>Одна ракетка. Пять рун. Ещё один раунд.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1" descr="bg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Rectangle 2"/>
          <p:cNvSpPr/>
          <p:nvPr/>
        </p:nvSpPr>
        <p:spPr>
          <a:xfrm>
            <a:off x="731520" y="502920"/>
            <a:ext cx="301320" cy="31680"/>
          </a:xfrm>
          <a:prstGeom prst="rect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1170360" y="40248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820" spc="130" strike="noStrike" u="none">
                <a:solidFill>
                  <a:srgbClr val="a7adb2"/>
                </a:solidFill>
                <a:effectLst/>
                <a:uFillTx/>
                <a:latin typeface="Consolas"/>
                <a:ea typeface="Consolas"/>
              </a:rPr>
              <a:t>01 · ЧТО ЭТО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731520" y="6510600"/>
            <a:ext cx="2742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00" spc="119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PONG WALL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10652760" y="64922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ru-RU" sz="800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02 / 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731520" y="868680"/>
            <a:ext cx="4891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5000"/>
              </a:lnSpc>
            </a:pPr>
            <a:r>
              <a:rPr b="1" lang="ru-RU" sz="40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Пинг-понг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5000"/>
              </a:lnSpc>
            </a:pPr>
            <a:r>
              <a:rPr b="1" lang="ru-RU" sz="40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без конца.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731520" y="2304360"/>
            <a:ext cx="4617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ru-RU" sz="150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Отбивай мяч, попадай в руны и собирай магию. Один забег — один рекорд.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Oval 8"/>
          <p:cNvSpPr/>
          <p:nvPr/>
        </p:nvSpPr>
        <p:spPr>
          <a:xfrm>
            <a:off x="749880" y="3319200"/>
            <a:ext cx="100080" cy="100080"/>
          </a:xfrm>
          <a:prstGeom prst="ellipse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1005840" y="320940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5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Одна ракетка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1005840" y="349308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5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Движение и угол решают всё.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Oval 11"/>
          <p:cNvSpPr/>
          <p:nvPr/>
        </p:nvSpPr>
        <p:spPr>
          <a:xfrm>
            <a:off x="749880" y="4142160"/>
            <a:ext cx="100080" cy="100080"/>
          </a:xfrm>
          <a:prstGeom prst="ellipse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12"/>
          <p:cNvSpPr/>
          <p:nvPr/>
        </p:nvSpPr>
        <p:spPr>
          <a:xfrm>
            <a:off x="1005840" y="40323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5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Пять рун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3"/>
          <p:cNvSpPr/>
          <p:nvPr/>
        </p:nvSpPr>
        <p:spPr>
          <a:xfrm>
            <a:off x="1005840" y="431604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5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Очки, магия, жизни и мячи.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Oval 14"/>
          <p:cNvSpPr/>
          <p:nvPr/>
        </p:nvSpPr>
        <p:spPr>
          <a:xfrm>
            <a:off x="749880" y="4965120"/>
            <a:ext cx="100080" cy="100080"/>
          </a:xfrm>
          <a:prstGeom prst="ellipse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6280" bIns="26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15"/>
          <p:cNvSpPr/>
          <p:nvPr/>
        </p:nvSpPr>
        <p:spPr>
          <a:xfrm>
            <a:off x="1005840" y="485532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5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Бесконечный забег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6"/>
          <p:cNvSpPr/>
          <p:nvPr/>
        </p:nvSpPr>
        <p:spPr>
          <a:xfrm>
            <a:off x="1005840" y="513900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5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Главная цель — новый рекорд.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17" descr="menu_en.png"/>
          <p:cNvPicPr/>
          <p:nvPr/>
        </p:nvPicPr>
        <p:blipFill>
          <a:blip r:embed="rId2"/>
          <a:stretch/>
        </p:blipFill>
        <p:spPr>
          <a:xfrm>
            <a:off x="6629400" y="868680"/>
            <a:ext cx="4617360" cy="4948560"/>
          </a:xfrm>
          <a:prstGeom prst="rect">
            <a:avLst/>
          </a:prstGeom>
          <a:noFill/>
          <a:ln w="9525">
            <a:solidFill>
              <a:srgbClr val="323a42"/>
            </a:solidFill>
            <a:round/>
          </a:ln>
        </p:spPr>
      </p:pic>
      <p:sp>
        <p:nvSpPr>
          <p:cNvPr id="90" name="Oval 18"/>
          <p:cNvSpPr/>
          <p:nvPr/>
        </p:nvSpPr>
        <p:spPr>
          <a:xfrm>
            <a:off x="6629400" y="6021360"/>
            <a:ext cx="63720" cy="63720"/>
          </a:xfrm>
          <a:prstGeom prst="ellipse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9"/>
          <p:cNvSpPr/>
          <p:nvPr/>
        </p:nvSpPr>
        <p:spPr>
          <a:xfrm>
            <a:off x="6775560" y="5980320"/>
            <a:ext cx="4471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60" spc="71" strike="noStrike" u="none">
                <a:solidFill>
                  <a:srgbClr val="a7adb2"/>
                </a:solidFill>
                <a:effectLst/>
                <a:uFillTx/>
                <a:latin typeface="Consolas"/>
                <a:ea typeface="Consolas"/>
              </a:rPr>
              <a:t>ГЛАВНОЕ МЕНЮ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1" descr="bg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Rectangle 2"/>
          <p:cNvSpPr/>
          <p:nvPr/>
        </p:nvSpPr>
        <p:spPr>
          <a:xfrm>
            <a:off x="731520" y="502920"/>
            <a:ext cx="301320" cy="31680"/>
          </a:xfrm>
          <a:prstGeom prst="rect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1170360" y="40248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820" spc="130" strike="noStrike" u="none">
                <a:solidFill>
                  <a:srgbClr val="a7adb2"/>
                </a:solidFill>
                <a:effectLst/>
                <a:uFillTx/>
                <a:latin typeface="Consolas"/>
                <a:ea typeface="Consolas"/>
              </a:rPr>
              <a:t>02 · КАК ИГРАТЬ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731520" y="6510600"/>
            <a:ext cx="2742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00" spc="119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PONG WALL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5"/>
          <p:cNvSpPr/>
          <p:nvPr/>
        </p:nvSpPr>
        <p:spPr>
          <a:xfrm>
            <a:off x="10652760" y="64922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ru-RU" sz="800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03 / 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731520" y="868680"/>
            <a:ext cx="4937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5000"/>
              </a:lnSpc>
            </a:pPr>
            <a:r>
              <a:rPr b="1" lang="ru-RU" sz="38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Три действия.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731520" y="178308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40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Этого достаточно, чтобы начать.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731520" y="274320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500" strike="noStrike" u="none">
                <a:solidFill>
                  <a:srgbClr val="b7472a"/>
                </a:solidFill>
                <a:effectLst/>
                <a:uFillTx/>
                <a:latin typeface="Bahnschrift"/>
                <a:ea typeface="Bahnschrift"/>
              </a:rPr>
              <a:t>01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1417320" y="271584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1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Веди ракетку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1435680" y="31089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20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Зажми и двигай.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11"/>
          <p:cNvSpPr/>
          <p:nvPr/>
        </p:nvSpPr>
        <p:spPr>
          <a:xfrm>
            <a:off x="749880" y="3584520"/>
            <a:ext cx="4617360" cy="6840"/>
          </a:xfrm>
          <a:prstGeom prst="rect">
            <a:avLst/>
          </a:prstGeom>
          <a:solidFill>
            <a:srgbClr val="293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2"/>
          <p:cNvSpPr/>
          <p:nvPr/>
        </p:nvSpPr>
        <p:spPr>
          <a:xfrm>
            <a:off x="731520" y="373068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500" strike="noStrike" u="none">
                <a:solidFill>
                  <a:srgbClr val="b7472a"/>
                </a:solidFill>
                <a:effectLst/>
                <a:uFillTx/>
                <a:latin typeface="Bahnschrift"/>
                <a:ea typeface="Bahnschrift"/>
              </a:rPr>
              <a:t>02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3"/>
          <p:cNvSpPr/>
          <p:nvPr/>
        </p:nvSpPr>
        <p:spPr>
          <a:xfrm>
            <a:off x="1417320" y="370332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1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Верни мяч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4"/>
          <p:cNvSpPr/>
          <p:nvPr/>
        </p:nvSpPr>
        <p:spPr>
          <a:xfrm>
            <a:off x="1435680" y="4096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20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+1 очко.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15"/>
          <p:cNvSpPr/>
          <p:nvPr/>
        </p:nvSpPr>
        <p:spPr>
          <a:xfrm>
            <a:off x="749880" y="4572000"/>
            <a:ext cx="4617360" cy="6840"/>
          </a:xfrm>
          <a:prstGeom prst="rect">
            <a:avLst/>
          </a:prstGeom>
          <a:solidFill>
            <a:srgbClr val="293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6"/>
          <p:cNvSpPr/>
          <p:nvPr/>
        </p:nvSpPr>
        <p:spPr>
          <a:xfrm>
            <a:off x="731520" y="4718160"/>
            <a:ext cx="639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500" strike="noStrike" u="none">
                <a:solidFill>
                  <a:srgbClr val="b7472a"/>
                </a:solidFill>
                <a:effectLst/>
                <a:uFillTx/>
                <a:latin typeface="Bahnschrift"/>
                <a:ea typeface="Bahnschrift"/>
              </a:rPr>
              <a:t>03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7"/>
          <p:cNvSpPr/>
          <p:nvPr/>
        </p:nvSpPr>
        <p:spPr>
          <a:xfrm>
            <a:off x="1417320" y="4690800"/>
            <a:ext cx="4205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1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Попади в руну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8"/>
          <p:cNvSpPr/>
          <p:nvPr/>
        </p:nvSpPr>
        <p:spPr>
          <a:xfrm>
            <a:off x="1435680" y="50839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20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Получи бонус.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19" descr="training_move_full.png"/>
          <p:cNvPicPr/>
          <p:nvPr/>
        </p:nvPicPr>
        <p:blipFill>
          <a:blip r:embed="rId2"/>
          <a:stretch/>
        </p:blipFill>
        <p:spPr>
          <a:xfrm>
            <a:off x="6080760" y="896040"/>
            <a:ext cx="5348880" cy="3124080"/>
          </a:xfrm>
          <a:prstGeom prst="rect">
            <a:avLst/>
          </a:prstGeom>
          <a:noFill/>
          <a:ln w="9525">
            <a:solidFill>
              <a:srgbClr val="323a42"/>
            </a:solidFill>
            <a:round/>
          </a:ln>
        </p:spPr>
      </p:pic>
      <p:sp>
        <p:nvSpPr>
          <p:cNvPr id="111" name="Oval 20"/>
          <p:cNvSpPr/>
          <p:nvPr/>
        </p:nvSpPr>
        <p:spPr>
          <a:xfrm>
            <a:off x="6080760" y="4165200"/>
            <a:ext cx="63720" cy="63720"/>
          </a:xfrm>
          <a:prstGeom prst="ellipse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21"/>
          <p:cNvSpPr/>
          <p:nvPr/>
        </p:nvSpPr>
        <p:spPr>
          <a:xfrm>
            <a:off x="6226920" y="4123800"/>
            <a:ext cx="5202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60" spc="71" strike="noStrike" u="none">
                <a:solidFill>
                  <a:srgbClr val="a7adb2"/>
                </a:solidFill>
                <a:effectLst/>
                <a:uFillTx/>
                <a:latin typeface="Consolas"/>
                <a:ea typeface="Consolas"/>
              </a:rPr>
              <a:t>ОБУЧЕНИЕ · ШАГ MOVE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2"/>
          <p:cNvSpPr/>
          <p:nvPr/>
        </p:nvSpPr>
        <p:spPr>
          <a:xfrm>
            <a:off x="6080760" y="4617720"/>
            <a:ext cx="5348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400" spc="79" strike="noStrike" u="none">
                <a:solidFill>
                  <a:srgbClr val="d8b26a"/>
                </a:solidFill>
                <a:effectLst/>
                <a:uFillTx/>
                <a:latin typeface="Bahnschrift"/>
                <a:ea typeface="Bahnschrift"/>
              </a:rPr>
              <a:t>HOLD &amp; DRAG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3"/>
          <p:cNvSpPr/>
          <p:nvPr/>
        </p:nvSpPr>
        <p:spPr>
          <a:xfrm>
            <a:off x="6099120" y="5139000"/>
            <a:ext cx="5120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b="0" lang="ru-RU" sz="105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Ракетка следует за пальцем или курсором. Промах в обучении не наказывает.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" descr="bg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Rectangle 2"/>
          <p:cNvSpPr/>
          <p:nvPr/>
        </p:nvSpPr>
        <p:spPr>
          <a:xfrm>
            <a:off x="731520" y="502920"/>
            <a:ext cx="301320" cy="31680"/>
          </a:xfrm>
          <a:prstGeom prst="rect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1170360" y="40248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820" spc="130" strike="noStrike" u="none">
                <a:solidFill>
                  <a:srgbClr val="a7adb2"/>
                </a:solidFill>
                <a:effectLst/>
                <a:uFillTx/>
                <a:latin typeface="Consolas"/>
                <a:ea typeface="Consolas"/>
              </a:rPr>
              <a:t>03 · РУНЫ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731520" y="6510600"/>
            <a:ext cx="2742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00" spc="119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PONG WALL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10652760" y="64922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ru-RU" sz="800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04 / 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731520" y="868680"/>
            <a:ext cx="5486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38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Пять рун.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731520" y="1572840"/>
            <a:ext cx="6400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35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Попади в руну — получи бонус. Промах обнуляет магию.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731520" y="2331720"/>
            <a:ext cx="1992960" cy="2971440"/>
          </a:xfrm>
          <a:prstGeom prst="roundRect">
            <a:avLst>
              <a:gd name="adj" fmla="val 5000"/>
            </a:avLst>
          </a:prstGeom>
          <a:solidFill>
            <a:srgbClr val="1b2127"/>
          </a:solidFill>
          <a:ln>
            <a:solidFill>
              <a:srgbClr val="323a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9"/>
          <p:cNvSpPr/>
          <p:nvPr/>
        </p:nvSpPr>
        <p:spPr>
          <a:xfrm>
            <a:off x="841320" y="2441520"/>
            <a:ext cx="1773720" cy="31680"/>
          </a:xfrm>
          <a:prstGeom prst="rect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4" name="Picture 10" descr="rune_arcane.png"/>
          <p:cNvPicPr/>
          <p:nvPr/>
        </p:nvPicPr>
        <p:blipFill>
          <a:blip r:embed="rId2"/>
          <a:stretch/>
        </p:blipFill>
        <p:spPr>
          <a:xfrm>
            <a:off x="1307520" y="2743200"/>
            <a:ext cx="840960" cy="84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Box 11"/>
          <p:cNvSpPr/>
          <p:nvPr/>
        </p:nvSpPr>
        <p:spPr>
          <a:xfrm>
            <a:off x="841320" y="374904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32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АРКАН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841320" y="4197240"/>
            <a:ext cx="17737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0" lang="ru-RU" sz="1120" strike="noStrike" u="none">
                <a:solidFill>
                  <a:srgbClr val="b7472a"/>
                </a:solidFill>
                <a:effectLst/>
                <a:uFillTx/>
                <a:latin typeface="Segoe UI"/>
                <a:ea typeface="Segoe UI"/>
              </a:rPr>
              <a:t>+3 очка и заряд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13"/>
          <p:cNvSpPr/>
          <p:nvPr/>
        </p:nvSpPr>
        <p:spPr>
          <a:xfrm>
            <a:off x="2889360" y="2331720"/>
            <a:ext cx="1992960" cy="2971440"/>
          </a:xfrm>
          <a:prstGeom prst="roundRect">
            <a:avLst>
              <a:gd name="adj" fmla="val 5000"/>
            </a:avLst>
          </a:prstGeom>
          <a:solidFill>
            <a:srgbClr val="1b2127"/>
          </a:solidFill>
          <a:ln>
            <a:solidFill>
              <a:srgbClr val="323a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14"/>
          <p:cNvSpPr/>
          <p:nvPr/>
        </p:nvSpPr>
        <p:spPr>
          <a:xfrm>
            <a:off x="2999160" y="2441520"/>
            <a:ext cx="1773720" cy="31680"/>
          </a:xfrm>
          <a:prstGeom prst="rect">
            <a:avLst/>
          </a:prstGeom>
          <a:solidFill>
            <a:srgbClr val="d8b2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15" descr="rune_treasure.png"/>
          <p:cNvPicPr/>
          <p:nvPr/>
        </p:nvPicPr>
        <p:blipFill>
          <a:blip r:embed="rId3"/>
          <a:stretch/>
        </p:blipFill>
        <p:spPr>
          <a:xfrm>
            <a:off x="3465720" y="2743200"/>
            <a:ext cx="840960" cy="84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16"/>
          <p:cNvSpPr/>
          <p:nvPr/>
        </p:nvSpPr>
        <p:spPr>
          <a:xfrm>
            <a:off x="2999160" y="374904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32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СОКРОВИЩЕ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7"/>
          <p:cNvSpPr/>
          <p:nvPr/>
        </p:nvSpPr>
        <p:spPr>
          <a:xfrm>
            <a:off x="2999160" y="4197240"/>
            <a:ext cx="17737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0" lang="ru-RU" sz="1120" strike="noStrike" u="none">
                <a:solidFill>
                  <a:srgbClr val="d8b26a"/>
                </a:solidFill>
                <a:effectLst/>
                <a:uFillTx/>
                <a:latin typeface="Segoe UI"/>
                <a:ea typeface="Segoe UI"/>
              </a:rPr>
              <a:t>+25 очков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18"/>
          <p:cNvSpPr/>
          <p:nvPr/>
        </p:nvSpPr>
        <p:spPr>
          <a:xfrm>
            <a:off x="5047560" y="2331720"/>
            <a:ext cx="1992960" cy="2971440"/>
          </a:xfrm>
          <a:prstGeom prst="roundRect">
            <a:avLst>
              <a:gd name="adj" fmla="val 5000"/>
            </a:avLst>
          </a:prstGeom>
          <a:solidFill>
            <a:srgbClr val="1b2127"/>
          </a:solidFill>
          <a:ln>
            <a:solidFill>
              <a:srgbClr val="323a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19"/>
          <p:cNvSpPr/>
          <p:nvPr/>
        </p:nvSpPr>
        <p:spPr>
          <a:xfrm>
            <a:off x="5157360" y="2441520"/>
            <a:ext cx="1773720" cy="31680"/>
          </a:xfrm>
          <a:prstGeom prst="rect">
            <a:avLst/>
          </a:prstGeom>
          <a:solidFill>
            <a:srgbClr val="d455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4" name="Picture 20" descr="rune_life.png"/>
          <p:cNvPicPr/>
          <p:nvPr/>
        </p:nvPicPr>
        <p:blipFill>
          <a:blip r:embed="rId4"/>
          <a:stretch/>
        </p:blipFill>
        <p:spPr>
          <a:xfrm>
            <a:off x="5623560" y="2743200"/>
            <a:ext cx="840960" cy="84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Box 21"/>
          <p:cNvSpPr/>
          <p:nvPr/>
        </p:nvSpPr>
        <p:spPr>
          <a:xfrm>
            <a:off x="5157360" y="374904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32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ЖИЗНЬ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2"/>
          <p:cNvSpPr/>
          <p:nvPr/>
        </p:nvSpPr>
        <p:spPr>
          <a:xfrm>
            <a:off x="5157360" y="4197240"/>
            <a:ext cx="17737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0" lang="ru-RU" sz="1120" strike="noStrike" u="none">
                <a:solidFill>
                  <a:srgbClr val="d4553f"/>
                </a:solidFill>
                <a:effectLst/>
                <a:uFillTx/>
                <a:latin typeface="Segoe UI"/>
                <a:ea typeface="Segoe UI"/>
              </a:rPr>
              <a:t>+1 запасная жизнь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23"/>
          <p:cNvSpPr/>
          <p:nvPr/>
        </p:nvSpPr>
        <p:spPr>
          <a:xfrm>
            <a:off x="7205400" y="2331720"/>
            <a:ext cx="1992960" cy="2971440"/>
          </a:xfrm>
          <a:prstGeom prst="roundRect">
            <a:avLst>
              <a:gd name="adj" fmla="val 5000"/>
            </a:avLst>
          </a:prstGeom>
          <a:solidFill>
            <a:srgbClr val="1b2127"/>
          </a:solidFill>
          <a:ln>
            <a:solidFill>
              <a:srgbClr val="323a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24"/>
          <p:cNvSpPr/>
          <p:nvPr/>
        </p:nvSpPr>
        <p:spPr>
          <a:xfrm>
            <a:off x="7315200" y="2441520"/>
            <a:ext cx="1773720" cy="31680"/>
          </a:xfrm>
          <a:prstGeom prst="rect">
            <a:avLst/>
          </a:prstGeom>
          <a:solidFill>
            <a:srgbClr val="6fa6c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9" name="Picture 25" descr="rune_ball.png"/>
          <p:cNvPicPr/>
          <p:nvPr/>
        </p:nvPicPr>
        <p:blipFill>
          <a:blip r:embed="rId5"/>
          <a:stretch/>
        </p:blipFill>
        <p:spPr>
          <a:xfrm>
            <a:off x="7781400" y="2743200"/>
            <a:ext cx="840960" cy="84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Box 26"/>
          <p:cNvSpPr/>
          <p:nvPr/>
        </p:nvSpPr>
        <p:spPr>
          <a:xfrm>
            <a:off x="7315200" y="374904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32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МНОЖЕСТВО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7"/>
          <p:cNvSpPr/>
          <p:nvPr/>
        </p:nvSpPr>
        <p:spPr>
          <a:xfrm>
            <a:off x="7315200" y="4197240"/>
            <a:ext cx="17737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0" lang="ru-RU" sz="1120" strike="noStrike" u="none">
                <a:solidFill>
                  <a:srgbClr val="6fa6c9"/>
                </a:solidFill>
                <a:effectLst/>
                <a:uFillTx/>
                <a:latin typeface="Segoe UI"/>
                <a:ea typeface="Segoe UI"/>
              </a:rPr>
              <a:t>+1 мяч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28"/>
          <p:cNvSpPr/>
          <p:nvPr/>
        </p:nvSpPr>
        <p:spPr>
          <a:xfrm>
            <a:off x="9363600" y="2331720"/>
            <a:ext cx="1992960" cy="2971440"/>
          </a:xfrm>
          <a:prstGeom prst="roundRect">
            <a:avLst>
              <a:gd name="adj" fmla="val 5000"/>
            </a:avLst>
          </a:prstGeom>
          <a:solidFill>
            <a:srgbClr val="1b2127"/>
          </a:solidFill>
          <a:ln>
            <a:solidFill>
              <a:srgbClr val="323a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29"/>
          <p:cNvSpPr/>
          <p:nvPr/>
        </p:nvSpPr>
        <p:spPr>
          <a:xfrm>
            <a:off x="9473040" y="2441520"/>
            <a:ext cx="1773720" cy="31680"/>
          </a:xfrm>
          <a:prstGeom prst="rect">
            <a:avLst/>
          </a:prstGeom>
          <a:solidFill>
            <a:srgbClr val="f2e3b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4" name="Picture 30" descr="rune_overdrive.png"/>
          <p:cNvPicPr/>
          <p:nvPr/>
        </p:nvPicPr>
        <p:blipFill>
          <a:blip r:embed="rId6"/>
          <a:stretch/>
        </p:blipFill>
        <p:spPr>
          <a:xfrm>
            <a:off x="9939600" y="2743200"/>
            <a:ext cx="840960" cy="84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31"/>
          <p:cNvSpPr/>
          <p:nvPr/>
        </p:nvSpPr>
        <p:spPr>
          <a:xfrm>
            <a:off x="9473040" y="374904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32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ОВЕРДРАЙВ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2"/>
          <p:cNvSpPr/>
          <p:nvPr/>
        </p:nvSpPr>
        <p:spPr>
          <a:xfrm>
            <a:off x="9473040" y="4197240"/>
            <a:ext cx="17737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0" lang="ru-RU" sz="1120" strike="noStrike" u="none">
                <a:solidFill>
                  <a:srgbClr val="f2e3bc"/>
                </a:solidFill>
                <a:effectLst/>
                <a:uFillTx/>
                <a:latin typeface="Segoe UI"/>
                <a:ea typeface="Segoe UI"/>
              </a:rPr>
              <a:t>сразу surge</a:t>
            </a:r>
            <a:endParaRPr b="0" lang="en-US" sz="1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3"/>
          <p:cNvSpPr/>
          <p:nvPr/>
        </p:nvSpPr>
        <p:spPr>
          <a:xfrm>
            <a:off x="731520" y="566928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Руна живёт 11 секунд. С каждым зарядом следующая становится уже.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1" descr="bg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Rectangle 2"/>
          <p:cNvSpPr/>
          <p:nvPr/>
        </p:nvSpPr>
        <p:spPr>
          <a:xfrm>
            <a:off x="731520" y="502920"/>
            <a:ext cx="301320" cy="31680"/>
          </a:xfrm>
          <a:prstGeom prst="rect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1170360" y="40248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820" spc="130" strike="noStrike" u="none">
                <a:solidFill>
                  <a:srgbClr val="a7adb2"/>
                </a:solidFill>
                <a:effectLst/>
                <a:uFillTx/>
                <a:latin typeface="Consolas"/>
                <a:ea typeface="Consolas"/>
              </a:rPr>
              <a:t>04 · МАГИЯ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731520" y="6510600"/>
            <a:ext cx="2742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00" spc="119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PONG WALL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10652760" y="64922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ru-RU" sz="800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05 / 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Picture 6" descr="surge.png"/>
          <p:cNvPicPr/>
          <p:nvPr/>
        </p:nvPicPr>
        <p:blipFill>
          <a:blip r:embed="rId2"/>
          <a:stretch/>
        </p:blipFill>
        <p:spPr>
          <a:xfrm>
            <a:off x="731520" y="896040"/>
            <a:ext cx="5577480" cy="3257640"/>
          </a:xfrm>
          <a:prstGeom prst="rect">
            <a:avLst/>
          </a:prstGeom>
          <a:noFill/>
          <a:ln w="9525">
            <a:solidFill>
              <a:srgbClr val="323a42"/>
            </a:solidFill>
            <a:round/>
          </a:ln>
        </p:spPr>
      </p:pic>
      <p:sp>
        <p:nvSpPr>
          <p:cNvPr id="154" name="Oval 7"/>
          <p:cNvSpPr/>
          <p:nvPr/>
        </p:nvSpPr>
        <p:spPr>
          <a:xfrm>
            <a:off x="731520" y="4219920"/>
            <a:ext cx="63720" cy="63720"/>
          </a:xfrm>
          <a:prstGeom prst="ellipse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877680" y="4178880"/>
            <a:ext cx="543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60" spc="71" strike="noStrike" u="none">
                <a:solidFill>
                  <a:srgbClr val="a7adb2"/>
                </a:solidFill>
                <a:effectLst/>
                <a:uFillTx/>
                <a:latin typeface="Consolas"/>
                <a:ea typeface="Consolas"/>
              </a:rPr>
              <a:t>SURGE x2 · 8.0s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9"/>
          <p:cNvSpPr/>
          <p:nvPr/>
        </p:nvSpPr>
        <p:spPr>
          <a:xfrm>
            <a:off x="731520" y="459036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trike="noStrike" u="none">
                <a:solidFill>
                  <a:srgbClr val="d8b26a"/>
                </a:solidFill>
                <a:effectLst/>
                <a:uFillTx/>
                <a:latin typeface="Bahnschrift"/>
                <a:ea typeface="Bahnschrift"/>
              </a:rPr>
              <a:t>+15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0"/>
          <p:cNvSpPr/>
          <p:nvPr/>
        </p:nvSpPr>
        <p:spPr>
          <a:xfrm>
            <a:off x="731520" y="512064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86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очков сразу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1"/>
          <p:cNvSpPr/>
          <p:nvPr/>
        </p:nvSpPr>
        <p:spPr>
          <a:xfrm>
            <a:off x="2514600" y="459036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trike="noStrike" u="none">
                <a:solidFill>
                  <a:srgbClr val="d4674c"/>
                </a:solidFill>
                <a:effectLst/>
                <a:uFillTx/>
                <a:latin typeface="Bahnschrift"/>
                <a:ea typeface="Bahnschrift"/>
              </a:rPr>
              <a:t>×2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2"/>
          <p:cNvSpPr/>
          <p:nvPr/>
        </p:nvSpPr>
        <p:spPr>
          <a:xfrm>
            <a:off x="2514600" y="512064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86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множитель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3"/>
          <p:cNvSpPr/>
          <p:nvPr/>
        </p:nvSpPr>
        <p:spPr>
          <a:xfrm>
            <a:off x="4297680" y="4590360"/>
            <a:ext cx="1599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8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8 сек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4"/>
          <p:cNvSpPr/>
          <p:nvPr/>
        </p:nvSpPr>
        <p:spPr>
          <a:xfrm>
            <a:off x="4297680" y="5120640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86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длительность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5"/>
          <p:cNvSpPr/>
          <p:nvPr/>
        </p:nvSpPr>
        <p:spPr>
          <a:xfrm>
            <a:off x="731520" y="5650920"/>
            <a:ext cx="5531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2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Во время surge руны дают +6, но заряд не растёт.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6"/>
          <p:cNvSpPr/>
          <p:nvPr/>
        </p:nvSpPr>
        <p:spPr>
          <a:xfrm>
            <a:off x="6675120" y="868680"/>
            <a:ext cx="48002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4000"/>
              </a:lnSpc>
            </a:pPr>
            <a:r>
              <a:rPr b="1" lang="ru-RU" sz="38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Arcane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4000"/>
              </a:lnSpc>
            </a:pPr>
            <a:r>
              <a:rPr b="1" lang="ru-RU" sz="38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Surge.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7"/>
          <p:cNvSpPr/>
          <p:nvPr/>
        </p:nvSpPr>
        <p:spPr>
          <a:xfrm>
            <a:off x="6675120" y="2286000"/>
            <a:ext cx="4617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50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Собери 5 зарядов — получи усиление.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18"/>
          <p:cNvSpPr/>
          <p:nvPr/>
        </p:nvSpPr>
        <p:spPr>
          <a:xfrm>
            <a:off x="6675120" y="3017520"/>
            <a:ext cx="1645560" cy="45360"/>
          </a:xfrm>
          <a:prstGeom prst="rect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9"/>
          <p:cNvSpPr/>
          <p:nvPr/>
        </p:nvSpPr>
        <p:spPr>
          <a:xfrm>
            <a:off x="6675120" y="3255120"/>
            <a:ext cx="4663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7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5 зарядов → ×2 на 8 секунд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0"/>
          <p:cNvSpPr/>
          <p:nvPr/>
        </p:nvSpPr>
        <p:spPr>
          <a:xfrm>
            <a:off x="6675120" y="3822120"/>
            <a:ext cx="3291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60" spc="99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ARCANE CHARGE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21"/>
          <p:cNvSpPr/>
          <p:nvPr/>
        </p:nvSpPr>
        <p:spPr>
          <a:xfrm>
            <a:off x="6675120" y="4078080"/>
            <a:ext cx="420120" cy="145800"/>
          </a:xfrm>
          <a:prstGeom prst="roundRect">
            <a:avLst>
              <a:gd name="adj" fmla="val 5000"/>
            </a:avLst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ounded Rectangle 22"/>
          <p:cNvSpPr/>
          <p:nvPr/>
        </p:nvSpPr>
        <p:spPr>
          <a:xfrm>
            <a:off x="7169040" y="4078080"/>
            <a:ext cx="420120" cy="145800"/>
          </a:xfrm>
          <a:prstGeom prst="roundRect">
            <a:avLst>
              <a:gd name="adj" fmla="val 5000"/>
            </a:avLst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ounded Rectangle 23"/>
          <p:cNvSpPr/>
          <p:nvPr/>
        </p:nvSpPr>
        <p:spPr>
          <a:xfrm>
            <a:off x="7662600" y="4078080"/>
            <a:ext cx="420120" cy="145800"/>
          </a:xfrm>
          <a:prstGeom prst="roundRect">
            <a:avLst>
              <a:gd name="adj" fmla="val 5000"/>
            </a:avLst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ounded Rectangle 24"/>
          <p:cNvSpPr/>
          <p:nvPr/>
        </p:nvSpPr>
        <p:spPr>
          <a:xfrm>
            <a:off x="8156520" y="4078080"/>
            <a:ext cx="420120" cy="145800"/>
          </a:xfrm>
          <a:prstGeom prst="roundRect">
            <a:avLst>
              <a:gd name="adj" fmla="val 5000"/>
            </a:avLst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ounded Rectangle 25"/>
          <p:cNvSpPr/>
          <p:nvPr/>
        </p:nvSpPr>
        <p:spPr>
          <a:xfrm>
            <a:off x="8650080" y="4078080"/>
            <a:ext cx="420120" cy="145800"/>
          </a:xfrm>
          <a:prstGeom prst="roundRect">
            <a:avLst>
              <a:gd name="adj" fmla="val 5000"/>
            </a:avLst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26"/>
          <p:cNvSpPr/>
          <p:nvPr/>
        </p:nvSpPr>
        <p:spPr>
          <a:xfrm>
            <a:off x="9372600" y="3996000"/>
            <a:ext cx="1005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000" strike="noStrike" u="none">
                <a:solidFill>
                  <a:srgbClr val="d8b26a"/>
                </a:solidFill>
                <a:effectLst/>
                <a:uFillTx/>
                <a:latin typeface="Consolas"/>
                <a:ea typeface="Consolas"/>
              </a:rPr>
              <a:t>5 / 5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7"/>
          <p:cNvSpPr/>
          <p:nvPr/>
        </p:nvSpPr>
        <p:spPr>
          <a:xfrm>
            <a:off x="6675120" y="473652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5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Пауза замораживает таймер.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8"/>
          <p:cNvSpPr/>
          <p:nvPr/>
        </p:nvSpPr>
        <p:spPr>
          <a:xfrm>
            <a:off x="6675120" y="570600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40" spc="79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SURGE — ГЛАВНЫЙ ИСТОЧНИК ОЧКОВ</a:t>
            </a:r>
            <a:endParaRPr b="0" lang="en-US" sz="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1" descr="bg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Rectangle 2"/>
          <p:cNvSpPr/>
          <p:nvPr/>
        </p:nvSpPr>
        <p:spPr>
          <a:xfrm>
            <a:off x="731520" y="502920"/>
            <a:ext cx="301320" cy="31680"/>
          </a:xfrm>
          <a:prstGeom prst="rect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1170360" y="40248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820" spc="130" strike="noStrike" u="none">
                <a:solidFill>
                  <a:srgbClr val="a7adb2"/>
                </a:solidFill>
                <a:effectLst/>
                <a:uFillTx/>
                <a:latin typeface="Consolas"/>
                <a:ea typeface="Consolas"/>
              </a:rPr>
              <a:t>05 · РЕСУРСЫ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4"/>
          <p:cNvSpPr/>
          <p:nvPr/>
        </p:nvSpPr>
        <p:spPr>
          <a:xfrm>
            <a:off x="731520" y="6510600"/>
            <a:ext cx="2742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00" spc="119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PONG WALL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5"/>
          <p:cNvSpPr/>
          <p:nvPr/>
        </p:nvSpPr>
        <p:spPr>
          <a:xfrm>
            <a:off x="10652760" y="64922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ru-RU" sz="800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06 / 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731520" y="868680"/>
            <a:ext cx="48916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4000"/>
              </a:lnSpc>
            </a:pPr>
            <a:r>
              <a:rPr b="1" lang="ru-RU" sz="38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Мячи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4000"/>
              </a:lnSpc>
            </a:pPr>
            <a:r>
              <a:rPr b="1" lang="ru-RU" sz="38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и жизни.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731520" y="2331720"/>
            <a:ext cx="45259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45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Пока в игре есть мяч, забег продолжается.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8"/>
          <p:cNvSpPr/>
          <p:nvPr/>
        </p:nvSpPr>
        <p:spPr>
          <a:xfrm>
            <a:off x="731520" y="324612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3000" strike="noStrike" u="none">
                <a:solidFill>
                  <a:srgbClr val="6fa6c9"/>
                </a:solidFill>
                <a:effectLst/>
                <a:uFillTx/>
                <a:latin typeface="Bahnschrift"/>
                <a:ea typeface="Bahnschrift"/>
              </a:rPr>
              <a:t>до 6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9"/>
          <p:cNvSpPr/>
          <p:nvPr/>
        </p:nvSpPr>
        <p:spPr>
          <a:xfrm>
            <a:off x="749880" y="370332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2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мячей в игре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10"/>
          <p:cNvSpPr/>
          <p:nvPr/>
        </p:nvSpPr>
        <p:spPr>
          <a:xfrm>
            <a:off x="749880" y="4005000"/>
            <a:ext cx="4525920" cy="6840"/>
          </a:xfrm>
          <a:prstGeom prst="rect">
            <a:avLst/>
          </a:prstGeom>
          <a:solidFill>
            <a:srgbClr val="293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1"/>
          <p:cNvSpPr/>
          <p:nvPr/>
        </p:nvSpPr>
        <p:spPr>
          <a:xfrm>
            <a:off x="731520" y="412380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3000" strike="noStrike" u="none">
                <a:solidFill>
                  <a:srgbClr val="d4553f"/>
                </a:solidFill>
                <a:effectLst/>
                <a:uFillTx/>
                <a:latin typeface="Bahnschrift"/>
                <a:ea typeface="Bahnschrift"/>
              </a:rPr>
              <a:t>до 2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2"/>
          <p:cNvSpPr/>
          <p:nvPr/>
        </p:nvSpPr>
        <p:spPr>
          <a:xfrm>
            <a:off x="749880" y="458100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2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запасных жизней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3"/>
          <p:cNvSpPr/>
          <p:nvPr/>
        </p:nvSpPr>
        <p:spPr>
          <a:xfrm>
            <a:off x="749880" y="4883040"/>
            <a:ext cx="4525920" cy="6840"/>
          </a:xfrm>
          <a:prstGeom prst="rect">
            <a:avLst/>
          </a:prstGeom>
          <a:solidFill>
            <a:srgbClr val="293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4"/>
          <p:cNvSpPr/>
          <p:nvPr/>
        </p:nvSpPr>
        <p:spPr>
          <a:xfrm>
            <a:off x="731520" y="50018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000" strike="noStrike" u="none">
                <a:solidFill>
                  <a:srgbClr val="d4674c"/>
                </a:solidFill>
                <a:effectLst/>
                <a:uFillTx/>
                <a:latin typeface="Bahnschrift"/>
                <a:ea typeface="Bahnschrift"/>
              </a:rPr>
              <a:t>Game over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5"/>
          <p:cNvSpPr/>
          <p:nvPr/>
        </p:nvSpPr>
        <p:spPr>
          <a:xfrm>
            <a:off x="749880" y="5312520"/>
            <a:ext cx="3565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2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когда всё потеряно</a:t>
            </a:r>
            <a:endParaRPr b="0" lang="en-US" sz="10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1" name="Picture 16" descr="gameplay_arcane.png"/>
          <p:cNvPicPr/>
          <p:nvPr/>
        </p:nvPicPr>
        <p:blipFill>
          <a:blip r:embed="rId2"/>
          <a:stretch/>
        </p:blipFill>
        <p:spPr>
          <a:xfrm>
            <a:off x="5806440" y="896040"/>
            <a:ext cx="5577480" cy="3257640"/>
          </a:xfrm>
          <a:prstGeom prst="rect">
            <a:avLst/>
          </a:prstGeom>
          <a:noFill/>
          <a:ln w="9525">
            <a:solidFill>
              <a:srgbClr val="323a42"/>
            </a:solidFill>
            <a:round/>
          </a:ln>
        </p:spPr>
      </p:pic>
      <p:sp>
        <p:nvSpPr>
          <p:cNvPr id="192" name="Oval 17"/>
          <p:cNvSpPr/>
          <p:nvPr/>
        </p:nvSpPr>
        <p:spPr>
          <a:xfrm>
            <a:off x="5806440" y="4219920"/>
            <a:ext cx="63720" cy="63720"/>
          </a:xfrm>
          <a:prstGeom prst="ellipse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18"/>
          <p:cNvSpPr/>
          <p:nvPr/>
        </p:nvSpPr>
        <p:spPr>
          <a:xfrm>
            <a:off x="5952600" y="4178880"/>
            <a:ext cx="543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60" spc="71" strike="noStrike" u="none">
                <a:solidFill>
                  <a:srgbClr val="a7adb2"/>
                </a:solidFill>
                <a:effectLst/>
                <a:uFillTx/>
                <a:latin typeface="Consolas"/>
                <a:ea typeface="Consolas"/>
              </a:rPr>
              <a:t>3 МЯЧА · 1 ЗАПАСНАЯ ЖИЗНЬ · 42 ОЧКА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9"/>
          <p:cNvSpPr/>
          <p:nvPr/>
        </p:nvSpPr>
        <p:spPr>
          <a:xfrm>
            <a:off x="5806440" y="4645080"/>
            <a:ext cx="5577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7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Запасная жизнь возвращает мяч.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0"/>
          <p:cNvSpPr/>
          <p:nvPr/>
        </p:nvSpPr>
        <p:spPr>
          <a:xfrm>
            <a:off x="5824800" y="5029200"/>
            <a:ext cx="5257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HUD показывает, сколько мячей и жизней осталось.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" descr="bg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Rectangle 2"/>
          <p:cNvSpPr/>
          <p:nvPr/>
        </p:nvSpPr>
        <p:spPr>
          <a:xfrm>
            <a:off x="731520" y="502920"/>
            <a:ext cx="301320" cy="31680"/>
          </a:xfrm>
          <a:prstGeom prst="rect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2960" bIns="-12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1170360" y="40248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820" spc="130" strike="noStrike" u="none">
                <a:solidFill>
                  <a:srgbClr val="a7adb2"/>
                </a:solidFill>
                <a:effectLst/>
                <a:uFillTx/>
                <a:latin typeface="Consolas"/>
                <a:ea typeface="Consolas"/>
              </a:rPr>
              <a:t>06 · ИТОГ</a:t>
            </a:r>
            <a:endParaRPr b="0" lang="en-US" sz="8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4"/>
          <p:cNvSpPr/>
          <p:nvPr/>
        </p:nvSpPr>
        <p:spPr>
          <a:xfrm>
            <a:off x="731520" y="6510600"/>
            <a:ext cx="2742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00" spc="119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PONG WALL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5"/>
          <p:cNvSpPr/>
          <p:nvPr/>
        </p:nvSpPr>
        <p:spPr>
          <a:xfrm>
            <a:off x="10652760" y="6492240"/>
            <a:ext cx="822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ru-RU" sz="800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07 / 7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6"/>
          <p:cNvSpPr/>
          <p:nvPr/>
        </p:nvSpPr>
        <p:spPr>
          <a:xfrm>
            <a:off x="731520" y="1097280"/>
            <a:ext cx="539460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90000"/>
              </a:lnSpc>
            </a:pPr>
            <a:r>
              <a:rPr b="1" lang="ru-RU" sz="50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Ещё один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0000"/>
              </a:lnSpc>
            </a:pPr>
            <a:r>
              <a:rPr b="1" lang="ru-RU" sz="50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раунд?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7"/>
          <p:cNvSpPr/>
          <p:nvPr/>
        </p:nvSpPr>
        <p:spPr>
          <a:xfrm>
            <a:off x="731520" y="2697480"/>
            <a:ext cx="5074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ru-RU" sz="170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Pong Wall — простая аркада, в которую хочется играть ещё.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8"/>
          <p:cNvSpPr/>
          <p:nvPr/>
        </p:nvSpPr>
        <p:spPr>
          <a:xfrm>
            <a:off x="731520" y="3840480"/>
            <a:ext cx="1142640" cy="36360"/>
          </a:xfrm>
          <a:prstGeom prst="rect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9"/>
          <p:cNvSpPr/>
          <p:nvPr/>
        </p:nvSpPr>
        <p:spPr>
          <a:xfrm>
            <a:off x="731520" y="4096440"/>
            <a:ext cx="4937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8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Понятно. Ритмично. Затягивает.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0"/>
          <p:cNvSpPr/>
          <p:nvPr/>
        </p:nvSpPr>
        <p:spPr>
          <a:xfrm>
            <a:off x="731520" y="5559480"/>
            <a:ext cx="4937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200" strike="noStrike" u="none">
                <a:solidFill>
                  <a:srgbClr val="d8b26a"/>
                </a:solidFill>
                <a:effectLst/>
                <a:uFillTx/>
                <a:latin typeface="Bahnschrift"/>
                <a:ea typeface="Bahnschrift"/>
              </a:rPr>
              <a:t>Спасибо.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1"/>
          <p:cNvSpPr/>
          <p:nvPr/>
        </p:nvSpPr>
        <p:spPr>
          <a:xfrm>
            <a:off x="731520" y="5961960"/>
            <a:ext cx="4937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60" spc="99" strike="noStrike" u="none">
                <a:solidFill>
                  <a:srgbClr val="6f777e"/>
                </a:solidFill>
                <a:effectLst/>
                <a:uFillTx/>
                <a:latin typeface="Consolas"/>
                <a:ea typeface="Consolas"/>
              </a:rPr>
              <a:t>PONG WALL · EN / RU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12" descr="gameover_card_final.png"/>
          <p:cNvPicPr/>
          <p:nvPr/>
        </p:nvPicPr>
        <p:blipFill>
          <a:blip r:embed="rId2"/>
          <a:stretch/>
        </p:blipFill>
        <p:spPr>
          <a:xfrm>
            <a:off x="6675120" y="914400"/>
            <a:ext cx="4800240" cy="3428640"/>
          </a:xfrm>
          <a:prstGeom prst="rect">
            <a:avLst/>
          </a:prstGeom>
          <a:noFill/>
          <a:ln w="9525">
            <a:solidFill>
              <a:srgbClr val="323a42"/>
            </a:solidFill>
            <a:round/>
          </a:ln>
        </p:spPr>
      </p:pic>
      <p:sp>
        <p:nvSpPr>
          <p:cNvPr id="208" name="Oval 13"/>
          <p:cNvSpPr/>
          <p:nvPr/>
        </p:nvSpPr>
        <p:spPr>
          <a:xfrm>
            <a:off x="6675120" y="4494240"/>
            <a:ext cx="63720" cy="63720"/>
          </a:xfrm>
          <a:prstGeom prst="ellipse">
            <a:avLst/>
          </a:prstGeom>
          <a:solidFill>
            <a:srgbClr val="b74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4"/>
          <p:cNvSpPr/>
          <p:nvPr/>
        </p:nvSpPr>
        <p:spPr>
          <a:xfrm>
            <a:off x="6821280" y="4453200"/>
            <a:ext cx="465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760" spc="71" strike="noStrike" u="none">
                <a:solidFill>
                  <a:srgbClr val="a7adb2"/>
                </a:solidFill>
                <a:effectLst/>
                <a:uFillTx/>
                <a:latin typeface="Consolas"/>
                <a:ea typeface="Consolas"/>
              </a:rPr>
              <a:t>GAME OVER · NEW BEST 57</a:t>
            </a:r>
            <a:endParaRPr b="0" lang="en-US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5"/>
          <p:cNvSpPr/>
          <p:nvPr/>
        </p:nvSpPr>
        <p:spPr>
          <a:xfrm>
            <a:off x="6675120" y="4846320"/>
            <a:ext cx="4800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1900" strike="noStrike" u="none">
                <a:solidFill>
                  <a:srgbClr val="f2f4f5"/>
                </a:solidFill>
                <a:effectLst/>
                <a:uFillTx/>
                <a:latin typeface="Bahnschrift"/>
                <a:ea typeface="Bahnschrift"/>
              </a:rPr>
              <a:t>Новый рекорд ждёт.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6"/>
          <p:cNvSpPr/>
          <p:nvPr/>
        </p:nvSpPr>
        <p:spPr>
          <a:xfrm>
            <a:off x="6693480" y="533088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980" strike="noStrike" u="none">
                <a:solidFill>
                  <a:srgbClr val="a7adb2"/>
                </a:solidFill>
                <a:effectLst/>
                <a:uFillTx/>
                <a:latin typeface="Segoe UI"/>
                <a:ea typeface="Segoe UI"/>
              </a:rPr>
              <a:t>Счёт, лучший результат и кнопка PLAY AGAIN.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LibreOffice/25.2.7.2$Windows_X86_64 LibreOffice_project/5cbfd1ab6520636bb5f7b99185aa69bd7456825d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Pong Wall</dc:creator>
  <dc:description>Короткая версия: 7 слайдов, реальные кадры из игры.</dc:description>
  <dc:language>en-US</dc:language>
  <cp:lastModifiedBy/>
  <dcterms:modified xsi:type="dcterms:W3CDTF">2026-10-27T12:18:30Z</dcterms:modified>
  <cp:revision>2</cp:revision>
  <dc:subject>Пинг-понг с рунами и магией</dc:subject>
  <dc:title>Pong Wall — краткая презентация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